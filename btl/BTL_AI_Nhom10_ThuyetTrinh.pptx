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728655" cy="43891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ctr">
              <a:defRPr sz="1000" b="1">
                <a:solidFill>
                  <a:srgbClr val="E2E8F0"/>
                </a:solidFill>
                <a:latin typeface="Segoe UI"/>
              </a:defRPr>
            </a:pPr>
            <a:r>
              <a:t>TRƯỜNG ĐẠI HỌC CÔNG NGHỆ ĐÔNG Á (EAUT)  •  KHOA CÔNG NGHỆ THÔNG TIN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43000"/>
            <a:ext cx="10728655" cy="37033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143000"/>
            <a:ext cx="1072865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417320"/>
            <a:ext cx="9966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2563EB"/>
                </a:solidFill>
                <a:latin typeface="Segoe UI"/>
              </a:defRPr>
            </a:pPr>
            <a:r>
              <a:t>BÁO CÁO BÀI TẬP LỚN HỌC PHẦN: TRÍ TUỆ NHÂN TẠO</a:t>
            </a:r>
          </a:p>
          <a:p>
            <a:pPr>
              <a:spcAft>
                <a:spcPts val="1000"/>
              </a:spcAft>
              <a:defRPr sz="2400" b="1">
                <a:solidFill>
                  <a:srgbClr val="0F172A"/>
                </a:solidFill>
                <a:latin typeface="Segoe UI"/>
              </a:defRPr>
            </a:pPr>
            <a:r>
              <a:t>MÃ ĐỀ 02: XÂY DỰNG MÔ PHỎNG TÌM ĐƯỜNG TRONG MÊ CUNG</a:t>
            </a:r>
            <a:br/>
            <a:r>
              <a:t>BẰNG CÁC THUẬT TOÁN BFS, DFS VÀ A*</a:t>
            </a:r>
          </a:p>
          <a:p>
            <a:pPr>
              <a:spcAft>
                <a:spcPts val="2200"/>
              </a:spcAft>
              <a:defRPr sz="1200">
                <a:solidFill>
                  <a:srgbClr val="475569"/>
                </a:solidFill>
                <a:latin typeface="Segoe UI"/>
              </a:defRPr>
            </a:pPr>
            <a:r>
              <a:t>Mô hình hóa không gian trạng thái, đối sánh hiệu năng song song thời gian thực và đánh giá tính tối ưu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4041648"/>
            <a:ext cx="2103120" cy="347472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⚡ CHẠY SONG SONG 3 MÊ CUNG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4041648"/>
            <a:ext cx="2194560" cy="347472"/>
          </a:xfrm>
          <a:prstGeom prst="roundRect">
            <a:avLst>
              <a:gd name="adj" fmla="val 8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💎 MIN-HEAP A* HEURISTIC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4041648"/>
            <a:ext cx="2103120" cy="347472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📊 REALTIME KPI BENCHMARK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09560" y="4041648"/>
            <a:ext cx="2194560" cy="347472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📈 BIỂU ĐỒ SỐ LIỆU CHART.JS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29200"/>
            <a:ext cx="5212080" cy="13258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138928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94A3B8"/>
                </a:solidFill>
                <a:latin typeface="Segoe UI"/>
              </a:defRPr>
            </a:pPr>
            <a:r>
              <a:t>GIẢNG VIÊN HƯỚNG DẪN</a:t>
            </a:r>
          </a:p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ThS. Trần Xuân Thanh</a:t>
            </a:r>
          </a:p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Khoa Công nghệ Thông tin  •  Học kỳ 1 năm học 2026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8095" y="5029200"/>
            <a:ext cx="5212080" cy="13258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22415" y="5138928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94A3B8"/>
                </a:solidFill>
                <a:latin typeface="Segoe UI"/>
              </a:defRPr>
            </a:pPr>
            <a:r>
              <a:t>NHÓM SINH VIÊN BÁO CÁO</a:t>
            </a:r>
          </a:p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Nhóm 10  •  Nguyễn Thanh Hùng</a:t>
            </a:r>
          </a:p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Mã sinh viên: 20232139  •  Lớp chuyên ngành: DCCNTT.14.6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475488"/>
            <a:ext cx="1874520" cy="256032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CẤU TRÚC BÁO CÁO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71455" y="475488"/>
            <a:ext cx="1005840" cy="256032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SLIDE 02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749808"/>
            <a:ext cx="93268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Segoe UI"/>
              </a:defRPr>
            </a:pPr>
            <a:r>
              <a:t>Tổng quan nội dung thuyết trình đề tài BTL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078992"/>
            <a:ext cx="93268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Hệ thống hóa toàn diện từ phát biểu bài toán, phân tích thuật toán tới thực nghiệm và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528816"/>
            <a:ext cx="6858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Segoe UI"/>
              </a:defRPr>
            </a:pPr>
            <a:r>
              <a:t>Trường ĐH Công nghệ Đông Á (EAUT)  •  Khoa CNTT  •  BTL Trí Tuệ Nhân Tạo (Mã Đề 02)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528816"/>
            <a:ext cx="368777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00">
                <a:solidFill>
                  <a:srgbClr val="475569"/>
                </a:solidFill>
                <a:latin typeface="Segoe UI"/>
              </a:defRPr>
            </a:pPr>
            <a:r>
              <a:t>GVHD: ThS. Trần Xuân Thanh  •  SV: Nguyễn Thanh Hùng (20232139)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00200"/>
            <a:ext cx="2514600" cy="46177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600200"/>
            <a:ext cx="2514600" cy="658368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96112" y="1737360"/>
            <a:ext cx="594360" cy="36576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1719072"/>
            <a:ext cx="16002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Segoe UI"/>
              </a:defRPr>
            </a:pPr>
            <a:r>
              <a:t>PHÁT BIỂU BÀI TOÁN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423160"/>
            <a:ext cx="2148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  <a:defRPr sz="950">
                <a:solidFill>
                  <a:srgbClr val="475569"/>
                </a:solidFill>
                <a:latin typeface="Segoe UI"/>
              </a:defRPr>
            </a:pPr>
            <a:r>
              <a:t>✔  Tên &amp; bản chất bài toán tìm đường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950">
                <a:solidFill>
                  <a:srgbClr val="475569"/>
                </a:solidFill>
                <a:latin typeface="Segoe UI"/>
              </a:defRPr>
            </a:pPr>
            <a:r>
              <a:t>✔  Cấu trúc dữ liệu đầu vào (Input)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950">
                <a:solidFill>
                  <a:srgbClr val="475569"/>
                </a:solidFill>
                <a:latin typeface="Segoe UI"/>
              </a:defRPr>
            </a:pPr>
            <a:r>
              <a:t>✔  Chỉ số kết quả đầu ra (Output)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950">
                <a:solidFill>
                  <a:srgbClr val="475569"/>
                </a:solidFill>
                <a:latin typeface="Segoe UI"/>
              </a:defRPr>
            </a:pPr>
            <a:r>
              <a:t>✔  Ý nghĩa khoa học &amp; ứng dụng thực tiễn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5349240"/>
            <a:ext cx="2240280" cy="731520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5394960"/>
            <a:ext cx="211226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50" b="1">
                <a:solidFill>
                  <a:srgbClr val="2563EB"/>
                </a:solidFill>
                <a:latin typeface="Segoe UI"/>
              </a:defRPr>
            </a:pPr>
            <a:r>
              <a:t>Trọng tâm: Xác định không gian bài toán &amp; tiêu chuẩn nghiệm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56432" y="1600200"/>
            <a:ext cx="2514600" cy="46177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56432" y="1600200"/>
            <a:ext cx="2514600" cy="6583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621024" y="1737360"/>
            <a:ext cx="594360" cy="3657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1719072"/>
            <a:ext cx="16002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Segoe UI"/>
              </a:defRPr>
            </a:pPr>
            <a:r>
              <a:t>MÔ HÌNH &amp; THUẬT TOÁN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9312" y="2423160"/>
            <a:ext cx="2148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  <a:defRPr sz="950">
                <a:solidFill>
                  <a:srgbClr val="475569"/>
                </a:solidFill>
                <a:latin typeface="Segoe UI"/>
              </a:defRPr>
            </a:pPr>
            <a:r>
              <a:t>✔  Mô hình không gian trạng thái (State Space)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950">
                <a:solidFill>
                  <a:srgbClr val="475569"/>
                </a:solidFill>
                <a:latin typeface="Segoe UI"/>
              </a:defRPr>
            </a:pPr>
            <a:r>
              <a:t>✔  Thuật toán BFS: Cơ chế sóng đồng tâm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950">
                <a:solidFill>
                  <a:srgbClr val="475569"/>
                </a:solidFill>
                <a:latin typeface="Segoe UI"/>
              </a:defRPr>
            </a:pPr>
            <a:r>
              <a:t>✔  Thuật toán DFS: Đâm sâu &amp; Backtracking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950">
                <a:solidFill>
                  <a:srgbClr val="475569"/>
                </a:solidFill>
                <a:latin typeface="Segoe UI"/>
              </a:defRPr>
            </a:pPr>
            <a:r>
              <a:t>✔  Thuật toán A*: Hàm Heuristic Manhattan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93592" y="5349240"/>
            <a:ext cx="2240280" cy="73152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5394960"/>
            <a:ext cx="211226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50" b="1">
                <a:solidFill>
                  <a:srgbClr val="1E293B"/>
                </a:solidFill>
                <a:latin typeface="Segoe UI"/>
              </a:defRPr>
            </a:pPr>
            <a:r>
              <a:t>Trọng tâm: Cơ chế hàng đợi FIFO, LIFO Stack &amp; Min-Heap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81344" y="1600200"/>
            <a:ext cx="2514600" cy="46177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81344" y="1600200"/>
            <a:ext cx="2514600" cy="658368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45936" y="1737360"/>
            <a:ext cx="594360" cy="365760"/>
          </a:xfrm>
          <a:prstGeom prst="roundRect">
            <a:avLst>
              <a:gd name="adj" fmla="val 8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22592" y="1719072"/>
            <a:ext cx="16002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Segoe UI"/>
              </a:defRPr>
            </a:pPr>
            <a:r>
              <a:t>KẾT QUẢ THỰC NGHIỆM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64224" y="2423160"/>
            <a:ext cx="2148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  <a:defRPr sz="950">
                <a:solidFill>
                  <a:srgbClr val="475569"/>
                </a:solidFill>
                <a:latin typeface="Segoe UI"/>
              </a:defRPr>
            </a:pPr>
            <a:r>
              <a:t>✔  Đối sánh trên 4 bản đồ mê cung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950">
                <a:solidFill>
                  <a:srgbClr val="475569"/>
                </a:solidFill>
                <a:latin typeface="Segoe UI"/>
              </a:defRPr>
            </a:pPr>
            <a:r>
              <a:t>✔  Đánh giá 4 tiêu chuẩn AI kinh điển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950">
                <a:solidFill>
                  <a:srgbClr val="475569"/>
                </a:solidFill>
                <a:latin typeface="Segoe UI"/>
              </a:defRPr>
            </a:pPr>
            <a:r>
              <a:t>✔  Phân tích độ dài đường &amp; ô duyệt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950">
                <a:solidFill>
                  <a:srgbClr val="475569"/>
                </a:solidFill>
                <a:latin typeface="Segoe UI"/>
              </a:defRPr>
            </a:pPr>
            <a:r>
              <a:t>✔  Kết luận khoa học &amp; hướng mở rộng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18504" y="5349240"/>
            <a:ext cx="2240280" cy="731520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82512" y="5394960"/>
            <a:ext cx="211226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50" b="1">
                <a:solidFill>
                  <a:srgbClr val="059669"/>
                </a:solidFill>
                <a:latin typeface="Segoe UI"/>
              </a:defRPr>
            </a:pPr>
            <a:r>
              <a:t>Trọng tâm: Đối sánh định lượng thực nghiệm &amp; tính tối ưu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06256" y="1600200"/>
            <a:ext cx="2514600" cy="46177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906256" y="1600200"/>
            <a:ext cx="2514600" cy="658368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070848" y="1737360"/>
            <a:ext cx="594360" cy="365760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47504" y="1719072"/>
            <a:ext cx="16002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Segoe UI"/>
              </a:defRPr>
            </a:pPr>
            <a:r>
              <a:t>DEMO CHƯƠNG TRÌNH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89136" y="2423160"/>
            <a:ext cx="2148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  <a:defRPr sz="950">
                <a:solidFill>
                  <a:srgbClr val="475569"/>
                </a:solidFill>
                <a:latin typeface="Segoe UI"/>
              </a:defRPr>
            </a:pPr>
            <a:r>
              <a:t>✔  Mô phỏng song song 3 mê cung trực quan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950">
                <a:solidFill>
                  <a:srgbClr val="475569"/>
                </a:solidFill>
                <a:latin typeface="Segoe UI"/>
              </a:defRPr>
            </a:pPr>
            <a:r>
              <a:t>✔  Thực nghiệm bãi cản Open Field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950">
                <a:solidFill>
                  <a:srgbClr val="475569"/>
                </a:solidFill>
                <a:latin typeface="Segoe UI"/>
              </a:defRPr>
            </a:pPr>
            <a:r>
              <a:t>✔  Thử thách mê cung xoắn ốc &amp; No-Path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950">
                <a:solidFill>
                  <a:srgbClr val="475569"/>
                </a:solidFill>
                <a:latin typeface="Segoe UI"/>
              </a:defRPr>
            </a:pPr>
            <a:r>
              <a:t>✔  Phân tích KPI đo đạc &amp; Chart.js live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43416" y="5349240"/>
            <a:ext cx="2240280" cy="731520"/>
          </a:xfrm>
          <a:prstGeom prst="roundRect">
            <a:avLst>
              <a:gd name="adj" fmla="val 3000"/>
            </a:avLst>
          </a:prstGeom>
          <a:solidFill>
            <a:srgbClr val="FFFBE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5394960"/>
            <a:ext cx="211226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50" b="1">
                <a:solidFill>
                  <a:srgbClr val="D97706"/>
                </a:solidFill>
                <a:latin typeface="Segoe UI"/>
              </a:defRPr>
            </a:pPr>
            <a:r>
              <a:t>Trọng tâm: Trình diễn trực tiếp phần mềm mô phỏng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475488"/>
            <a:ext cx="2788920" cy="256032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PHẦN 1: PHÁT BIỂU BÀI TOÁN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71455" y="475488"/>
            <a:ext cx="1005840" cy="256032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SLIDE 03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749808"/>
            <a:ext cx="93268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Segoe UI"/>
              </a:defRPr>
            </a:pPr>
            <a:r>
              <a:t>Tên bài toán, Dữ liệu Input, Output &amp; Ý nghĩa khoa học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078992"/>
            <a:ext cx="93268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Xác định rõ ràng mục tiêu nghiên cứu và giá trị ứng dụng của bài toán tìm đường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528816"/>
            <a:ext cx="6858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Segoe UI"/>
              </a:defRPr>
            </a:pPr>
            <a:r>
              <a:t>Trường ĐH Công nghệ Đông Á (EAUT)  •  Khoa CNTT  •  BTL Trí Tuệ Nhân Tạo (Mã Đề 02)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528816"/>
            <a:ext cx="368777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00">
                <a:solidFill>
                  <a:srgbClr val="475569"/>
                </a:solidFill>
                <a:latin typeface="Segoe UI"/>
              </a:defRPr>
            </a:pPr>
            <a:r>
              <a:t>GVHD: ThS. Trần Xuân Thanh  •  SV: Nguyễn Thanh Hùng (20232139)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00200"/>
            <a:ext cx="3291840" cy="32918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1737360"/>
            <a:ext cx="2011680" cy="292608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1. DỮ LIỆU ĐẦU VÀO (INPUT)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14884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950">
                <a:solidFill>
                  <a:srgbClr val="475569"/>
                </a:solidFill>
                <a:latin typeface="Segoe UI"/>
              </a:defRPr>
            </a:pPr>
            <a:r>
              <a:t>• Ma trận bản đồ M × N:</a:t>
            </a:r>
            <a:br/>
            <a:r>
              <a:t>  Mặc định 15 × 15, mở rộng 21×21, 31×31, 41×41.</a:t>
            </a:r>
            <a:br/>
            <a:br/>
            <a:r>
              <a:t>• Vị trí ban đầu:</a:t>
            </a:r>
            <a:br/>
            <a:r>
              <a:t>  Xuất phát S(r_s, c_s) và Đích G(r_g, c_g).</a:t>
            </a:r>
            <a:br/>
            <a:br/>
            <a:r>
              <a:t>• Tập vật cản tường:</a:t>
            </a:r>
            <a:br/>
            <a:r>
              <a:t>  Grid[r][c] = WALL (không thể đi xuyên qua).</a:t>
            </a:r>
            <a:br/>
            <a:br/>
            <a:r>
              <a:t>• Hàm Heuristic cho A*:</a:t>
            </a:r>
            <a:br/>
            <a:r>
              <a:t>  Khoảng cách Manhattan:</a:t>
            </a:r>
            <a:br/>
            <a:r>
              <a:t>  h(n) = |r_n - r_g| + |c_n - c_g|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9080" y="292608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563EB"/>
                </a:solidFill>
                <a:latin typeface="Segoe UI"/>
              </a:defRPr>
            </a:pPr>
            <a:r>
              <a:t>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49470" y="1600200"/>
            <a:ext cx="3291840" cy="32918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632350" y="1737360"/>
            <a:ext cx="2194560" cy="292608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2. XỬ LÝ TÌM KIẾM (AI ENGINE)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2350" y="214884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950">
                <a:solidFill>
                  <a:srgbClr val="475569"/>
                </a:solidFill>
                <a:latin typeface="Segoe UI"/>
              </a:defRPr>
            </a:pPr>
            <a:r>
              <a:t>• Không gian trạng thái 2D:</a:t>
            </a:r>
            <a:br/>
            <a:r>
              <a:t>  Mỗi ô u = (r, c) là một trạng thái hợp lệ.</a:t>
            </a:r>
            <a:br/>
            <a:br/>
            <a:r>
              <a:t>• 3 Thuật toán giải quyết:</a:t>
            </a:r>
            <a:br/>
            <a:r>
              <a:t>  1. BFS (Tìm kiếm theo chiều rộng - FIFO Queue)</a:t>
            </a:r>
            <a:br/>
            <a:r>
              <a:t>  2. DFS (Tìm kiếm theo chiều sâu - LIFO Stack)</a:t>
            </a:r>
            <a:br/>
            <a:r>
              <a:t>  3. A* Search (Heuristic - Min-Heap)</a:t>
            </a:r>
            <a:br/>
            <a:br/>
            <a:r>
              <a:t>• Cơ chế song song:</a:t>
            </a:r>
            <a:br/>
            <a:r>
              <a:t>  Chạy đồng bộ 3 mê cung cùng một bản đồ để so sánh chính xác.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87030" y="292608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59669"/>
                </a:solidFill>
                <a:latin typeface="Segoe UI"/>
              </a:defRPr>
            </a:pPr>
            <a:r>
              <a:t>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68335" y="1600200"/>
            <a:ext cx="3291840" cy="32918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351215" y="1737360"/>
            <a:ext cx="2103120" cy="292608"/>
          </a:xfrm>
          <a:prstGeom prst="roundRect">
            <a:avLst>
              <a:gd name="adj" fmla="val 8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3. DỮ LIỆU ĐẦU RA (OUTPUT)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1215" y="214884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950">
                <a:solidFill>
                  <a:srgbClr val="475569"/>
                </a:solidFill>
                <a:latin typeface="Segoe UI"/>
              </a:defRPr>
            </a:pPr>
            <a:r>
              <a:t>• Đường đi tìm được:</a:t>
            </a:r>
            <a:br/>
            <a:r>
              <a:t>  Dãy tọa độ liên tiếp S ➔ ... ➔ G.</a:t>
            </a:r>
            <a:br/>
            <a:r>
              <a:t>  (Báo Vô nghiệm an toàn nếu đích bị vây kín).</a:t>
            </a:r>
            <a:br/>
            <a:br/>
            <a:r>
              <a:t>• Bộ 4 KPI hiệu năng thời gian thực:</a:t>
            </a:r>
            <a:br/>
            <a:r>
              <a:t>  + Thời gian chạy (ms)</a:t>
            </a:r>
            <a:br/>
            <a:r>
              <a:t>  + Số ô đã duyệt (Visited &amp; %)</a:t>
            </a:r>
            <a:br/>
            <a:r>
              <a:t>  + Độ dài đường đi (Steps)</a:t>
            </a:r>
            <a:br/>
            <a:r>
              <a:t>  + Bộ nhớ đỉnh (Max Frontier)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074920"/>
            <a:ext cx="10728655" cy="12344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60120" y="5193792"/>
            <a:ext cx="2377440" cy="256032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4. Ý NGHĨA KHOA HỌC &amp; THỰC TIỄN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5504688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950">
                <a:solidFill>
                  <a:srgbClr val="475569"/>
                </a:solidFill>
                <a:latin typeface="Segoe UI"/>
              </a:defRPr>
            </a:pPr>
            <a:r>
              <a:t>• Về lý thuyết AI: Phân định ranh giới giữa tìm kiếm mù quáng (Uninformed Search) và tìm kiếm có tri thức (Informed Heuristic Search).</a:t>
            </a:r>
            <a:br/>
            <a:r>
              <a:t>• Ứng dụng thực tiễn: Thuật toán nền tảng trong hệ thống Google Maps, xe tự hành AGV trong kho thông minh, AI dẫn đường NPC trong Game Engine.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475488"/>
            <a:ext cx="2971800" cy="256032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PHẦN 2: MÔ HÌNH HÓA BÀI TOÁN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71455" y="475488"/>
            <a:ext cx="1005840" cy="256032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SLIDE 04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749808"/>
            <a:ext cx="93268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Segoe UI"/>
              </a:defRPr>
            </a:pPr>
            <a:r>
              <a:t>Mô hình không gian trạng thái toán học (State Space Search Model)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078992"/>
            <a:ext cx="93268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Hệ thống hóa bài toán thành 5 thành phần chuẩn hóa theo giáo trình Trí Tuệ Nhân Tạo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528816"/>
            <a:ext cx="6858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Segoe UI"/>
              </a:defRPr>
            </a:pPr>
            <a:r>
              <a:t>Trường ĐH Công nghệ Đông Á (EAUT)  •  Khoa CNTT  •  BTL Trí Tuệ Nhân Tạo (Mã Đề 02)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528816"/>
            <a:ext cx="368777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00">
                <a:solidFill>
                  <a:srgbClr val="475569"/>
                </a:solidFill>
                <a:latin typeface="Segoe UI"/>
              </a:defRPr>
            </a:pPr>
            <a:r>
              <a:t>GVHD: ThS. Trần Xuân Thanh  •  SV: Nguyễn Thanh Hùng (20232139)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00200"/>
            <a:ext cx="1965960" cy="1417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8680" y="1737360"/>
            <a:ext cx="777240" cy="256032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S0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057400"/>
            <a:ext cx="1691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TRẠNG THÁI ĐẦU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331720"/>
            <a:ext cx="16916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50">
                <a:solidFill>
                  <a:srgbClr val="475569"/>
                </a:solidFill>
                <a:latin typeface="Segoe UI"/>
              </a:defRPr>
            </a:pPr>
            <a:r>
              <a:t>Vị trí xuất phát cố định</a:t>
            </a:r>
            <a:br/>
            <a:r>
              <a:t>s0 = S(r_s, c_s)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2121408"/>
            <a:ext cx="24688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300">
                <a:solidFill>
                  <a:srgbClr val="CBD5E1"/>
                </a:solidFill>
                <a:latin typeface="Segoe UI"/>
              </a:defRPr>
            </a:pPr>
            <a:r>
              <a:t>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44368" y="1600200"/>
            <a:ext cx="1965960" cy="1417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081527" y="1737360"/>
            <a:ext cx="777240" cy="256032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ACTIONS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81527" y="2057400"/>
            <a:ext cx="1691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TẬP HÀNH ĐỘNG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81527" y="2331720"/>
            <a:ext cx="16916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50">
                <a:solidFill>
                  <a:srgbClr val="475569"/>
                </a:solidFill>
                <a:latin typeface="Segoe UI"/>
              </a:defRPr>
            </a:pPr>
            <a:r>
              <a:t>4 hướng di chuyển:</a:t>
            </a:r>
            <a:br/>
            <a:r>
              <a:t>Lên, Xuống, Trái, Phải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10327" y="2121408"/>
            <a:ext cx="24688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300">
                <a:solidFill>
                  <a:srgbClr val="CBD5E1"/>
                </a:solidFill>
                <a:latin typeface="Segoe UI"/>
              </a:defRPr>
            </a:pPr>
            <a:r>
              <a:t>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57216" y="1600200"/>
            <a:ext cx="1965960" cy="1417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294376" y="1737360"/>
            <a:ext cx="777240" cy="256032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SPACE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94376" y="2057400"/>
            <a:ext cx="1691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KHÔNG GIAN 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94376" y="2331720"/>
            <a:ext cx="16916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50">
                <a:solidFill>
                  <a:srgbClr val="475569"/>
                </a:solidFill>
                <a:latin typeface="Segoe UI"/>
              </a:defRPr>
            </a:pPr>
            <a:r>
              <a:t>Tập ô hợp lệ M × N</a:t>
            </a:r>
            <a:br/>
            <a:r>
              <a:t>Grid[r][c] ≠ WALL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23175" y="2121408"/>
            <a:ext cx="24688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300">
                <a:solidFill>
                  <a:srgbClr val="CBD5E1"/>
                </a:solidFill>
                <a:latin typeface="Segoe UI"/>
              </a:defRPr>
            </a:pPr>
            <a:r>
              <a:t>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70064" y="1600200"/>
            <a:ext cx="1965960" cy="1417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507224" y="1737360"/>
            <a:ext cx="777240" cy="256032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COST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07224" y="2057400"/>
            <a:ext cx="1691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CHI PHÍ BƯỚC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07224" y="2331720"/>
            <a:ext cx="16916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50">
                <a:solidFill>
                  <a:srgbClr val="475569"/>
                </a:solidFill>
                <a:latin typeface="Segoe UI"/>
              </a:defRPr>
            </a:pPr>
            <a:r>
              <a:t>Chi phí đồng nhất:</a:t>
            </a:r>
            <a:br/>
            <a:r>
              <a:t>c(u, v) = 1 mỗi bước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36024" y="2121408"/>
            <a:ext cx="24688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300">
                <a:solidFill>
                  <a:srgbClr val="CBD5E1"/>
                </a:solidFill>
                <a:latin typeface="Segoe UI"/>
              </a:defRPr>
            </a:pPr>
            <a:r>
              <a:t>➔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82912" y="1600200"/>
            <a:ext cx="1965960" cy="1417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720072" y="1737360"/>
            <a:ext cx="777240" cy="256032"/>
          </a:xfrm>
          <a:prstGeom prst="roundRect">
            <a:avLst>
              <a:gd name="adj" fmla="val 8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GOAL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20072" y="2057400"/>
            <a:ext cx="1691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KIỂM TRA ĐÍCH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20072" y="2331720"/>
            <a:ext cx="16916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defRPr sz="850">
                <a:solidFill>
                  <a:srgbClr val="475569"/>
                </a:solidFill>
                <a:latin typeface="Segoe UI"/>
              </a:defRPr>
            </a:pPr>
            <a:r>
              <a:t>Điều kiện dừng:</a:t>
            </a:r>
            <a:br/>
            <a:r>
              <a:t>u.r == r_g &amp;&amp; u.c == c_g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3246120"/>
            <a:ext cx="5212080" cy="2971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60120" y="3401568"/>
            <a:ext cx="2286000" cy="27432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CÔNG THỨC TOÁN HỌC &amp; ĐẠI SỐ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" y="379476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950">
                <a:solidFill>
                  <a:srgbClr val="475569"/>
                </a:solidFill>
                <a:latin typeface="Segoe UI"/>
              </a:defRPr>
            </a:pPr>
            <a:r>
              <a:t>• Không gian trạng thái (State Space S):</a:t>
            </a:r>
            <a:br/>
            <a:r>
              <a:t>       S = {(r, c) | 0 ≤ r &lt; M, 0 ≤ c &lt; N, Grid[r][c] ≠ WALL}</a:t>
            </a:r>
            <a:br/>
            <a:br/>
            <a:r>
              <a:t>• Tập hành động (Actions Set A):</a:t>
            </a:r>
            <a:br/>
            <a:r>
              <a:t>       A = { Lên (-1, 0), Xuống (+1, 0), Trái (0, -1), Phải (0, +1) }</a:t>
            </a:r>
            <a:br/>
            <a:br/>
            <a:r>
              <a:t>• Hàm chuyển trạng thái (Transition Model):</a:t>
            </a:r>
            <a:br/>
            <a:r>
              <a:t>       s' = Result(s, a) = (s.r + a.dr, s.c + a.dc)</a:t>
            </a:r>
            <a:br/>
            <a:br/>
            <a:r>
              <a:t>• Chi phí tích lũy g(n):</a:t>
            </a:r>
            <a:br/>
            <a:r>
              <a:t>       g(n) = số bước di chuyển từ gốc S đến trạng thái n.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48095" y="3246120"/>
            <a:ext cx="5212080" cy="2971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476695" y="3401568"/>
            <a:ext cx="2286000" cy="274320"/>
          </a:xfrm>
          <a:prstGeom prst="roundRect">
            <a:avLst>
              <a:gd name="adj" fmla="val 8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QUY TẮC RÀNG BUỘC &amp; TÍNH DỪNG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76695" y="379476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950">
                <a:solidFill>
                  <a:srgbClr val="475569"/>
                </a:solidFill>
                <a:latin typeface="Segoe UI"/>
              </a:defRPr>
            </a:pPr>
            <a:r>
              <a:t>• Kiểm tra tính hợp lệ của ô kề v:</a:t>
            </a:r>
            <a:br/>
            <a:r>
              <a:t>  1. Tọa độ nằm hoàn toàn trong phạm vi bản đồ: 0 ≤ r &lt; M ∧ 0 ≤ c &lt; N.</a:t>
            </a:r>
            <a:br/>
            <a:r>
              <a:t>  2. Ô không phải vật cản: Grid[r][c] ≠ WALL.</a:t>
            </a:r>
            <a:br/>
            <a:r>
              <a:t>  3. Ô chưa từng được khám phá: visited[r][c] == false.</a:t>
            </a:r>
            <a:br/>
            <a:br/>
            <a:r>
              <a:t>• Điều kiện dừng thuật toán (Termination Conditions):</a:t>
            </a:r>
            <a:br/>
            <a:r>
              <a:t>  1. Thành công: isGoal(u) == true ➔ Dừng và tái tạo đường đi qua parent[].</a:t>
            </a:r>
            <a:br/>
            <a:r>
              <a:t>  2. Thất bại (Vô nghiệm): Tập Frontier (Queue/Stack) rỗng ➔ Điểm đích bị cô lập, thông báo không tìm thấy đường đi an toàn.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475488"/>
            <a:ext cx="3337560" cy="256032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PHẦN 2.1: THUẬT TOÁN TÌM KIẾM MÙ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71455" y="475488"/>
            <a:ext cx="1005840" cy="256032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SLIDE 05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749808"/>
            <a:ext cx="93268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Segoe UI"/>
              </a:defRPr>
            </a:pPr>
            <a:r>
              <a:t>Thuật toán BFS (Breadth-First Search) • Hàng đợi FIFO Queue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078992"/>
            <a:ext cx="93268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Thuật toán tìm kiếm theo chiều rộng duyệt đồng tâm đều theo từng tầng khoảng cách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528816"/>
            <a:ext cx="6858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Segoe UI"/>
              </a:defRPr>
            </a:pPr>
            <a:r>
              <a:t>Trường ĐH Công nghệ Đông Á (EAUT)  •  Khoa CNTT  •  BTL Trí Tuệ Nhân Tạo (Mã Đề 02)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528816"/>
            <a:ext cx="368777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00">
                <a:solidFill>
                  <a:srgbClr val="475569"/>
                </a:solidFill>
                <a:latin typeface="Segoe UI"/>
              </a:defRPr>
            </a:pPr>
            <a:r>
              <a:t>GVHD: ThS. Trần Xuân Thanh  •  SV: Nguyễn Thanh Hùng (20232139)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00200"/>
            <a:ext cx="2468880" cy="32004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CẤU TRÚC: HÀNG ĐỢI FIFO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600200"/>
            <a:ext cx="2468880" cy="32004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CƠ CHẾ: SÓNG RADAR ĐỒNG TÂM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1600200"/>
            <a:ext cx="2468880" cy="320040"/>
          </a:xfrm>
          <a:prstGeom prst="roundRect">
            <a:avLst>
              <a:gd name="adj" fmla="val 8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TỐI ƯU: 100% ĐƯỜNG NGẮN NHẤT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0" y="1600200"/>
            <a:ext cx="2468880" cy="320040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BỘ NHỚ: TIÊU TỐN RAM O(b^d)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103120"/>
            <a:ext cx="5212080" cy="41605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60120" y="2267712"/>
            <a:ext cx="2011680" cy="27432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NGUYÊN LÝ &amp; QUY TRÌNH THỰC THI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" y="2651760"/>
            <a:ext cx="2039112" cy="22677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51560" y="2743200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 w="9525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16736" y="2743200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BFDBFE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581912" y="2743200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BFDBFE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847088" y="2743200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334155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112264" y="2743200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377440" y="2743200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642616" y="2743200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51560" y="3008376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BFDBFE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316736" y="3008376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BFDBFE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581912" y="3008376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334155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847088" y="3008376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112264" y="3008376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377440" y="3008376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642616" y="3008376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51560" y="3273552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BFDBFE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316736" y="3273552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334155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581912" y="3273552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BFDBFE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847088" y="3273552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BFDBFE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2112264" y="3273552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334155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2377440" y="3273552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2642616" y="3273552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051560" y="3538728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BFDBFE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316736" y="3538728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BFDBFE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581912" y="3538728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BFDBFE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847088" y="3538728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059669"/>
          </a:solidFill>
          <a:ln w="9525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2112264" y="3538728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059669"/>
          </a:solidFill>
          <a:ln w="9525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2377440" y="3538728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334155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2642616" y="3538728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1051560" y="3803904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334155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316736" y="3803904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334155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581912" y="3803904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1847088" y="3803904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334155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2112264" y="3803904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059669"/>
          </a:solidFill>
          <a:ln w="9525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2377440" y="3803904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059669"/>
          </a:solidFill>
          <a:ln w="9525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2642616" y="3803904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334155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051560" y="4069080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1316736" y="4069080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1581912" y="4069080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1847088" y="4069080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2112264" y="4069080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334155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2377440" y="4069080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059669"/>
          </a:solidFill>
          <a:ln w="9525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2642616" y="4069080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DC2626"/>
          </a:solidFill>
          <a:ln w="9525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G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51560" y="4334256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1316736" y="4334256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1581912" y="4334256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1847088" y="4334256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2112264" y="4334256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2377440" y="4334256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334155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2642616" y="4334256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60120" y="4626864"/>
            <a:ext cx="2039112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800" b="1">
                <a:solidFill>
                  <a:srgbClr val="475569"/>
                </a:solidFill>
                <a:latin typeface="Segoe UI"/>
              </a:defRPr>
            </a:pPr>
            <a:r>
              <a:t>Mô phỏng sóng lan tỏa BFS (37 bước)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154680" y="2651760"/>
            <a:ext cx="2651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900">
                <a:solidFill>
                  <a:srgbClr val="475569"/>
                </a:solidFill>
                <a:latin typeface="Segoe UI"/>
              </a:defRPr>
            </a:pPr>
            <a:r>
              <a:t>• Cấu trúc: Hàng đợi FIFO Queue.</a:t>
            </a:r>
            <a:br/>
            <a:r>
              <a:t>• Cơ chế duyệt: Mở rộng đều ra mọi hướng theo từng mức khoảng cách từ S.</a:t>
            </a:r>
            <a:br/>
            <a:r>
              <a:t>• Các bước thực thi:</a:t>
            </a:r>
            <a:br/>
            <a:r>
              <a:t>  1. Đẩy S vào Queue, đánh dấu visited[S] = true.</a:t>
            </a:r>
            <a:br/>
            <a:r>
              <a:t>  2. Trích ô u đầu Queue (shift).</a:t>
            </a:r>
            <a:br/>
            <a:r>
              <a:t>  3. Nếu u == Goal: Dừng, truy vết mảng parent.</a:t>
            </a:r>
            <a:br/>
            <a:r>
              <a:t>  4. Lấy ô kề v chưa thăm: lưu parent[v] = u, đẩy vào Queue.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248095" y="2103120"/>
            <a:ext cx="5212080" cy="41605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6476695" y="2267712"/>
            <a:ext cx="2286000" cy="27432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ĐÁNH GIÁ ĐẶC TÍNH KỸ THUẬT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476695" y="2697480"/>
            <a:ext cx="4754880" cy="77724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6583680" y="2807208"/>
            <a:ext cx="2011680" cy="228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750" b="1">
                <a:solidFill>
                  <a:srgbClr val="0F172A"/>
                </a:solidFill>
                <a:latin typeface="Segoe UI"/>
              </a:defRPr>
            </a:pPr>
            <a:r>
              <a:t>TÍNH ĐẦY ĐỦ (COMPLETENESS)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778240" y="2807208"/>
            <a:ext cx="2286000" cy="22860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750" b="1">
                <a:solidFill>
                  <a:srgbClr val="059669"/>
                </a:solidFill>
                <a:latin typeface="Segoe UI"/>
              </a:defRPr>
            </a:pPr>
            <a:r>
              <a:t>✔ ĐẢM BẢO 100%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583680" y="306324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t>Chắc chắn tìm thấy nghiệm nếu tồn tại đường đi (với không gian hữu hạn).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476695" y="3566160"/>
            <a:ext cx="4754880" cy="77724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6583680" y="3675888"/>
            <a:ext cx="2011680" cy="228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750" b="1">
                <a:solidFill>
                  <a:srgbClr val="0F172A"/>
                </a:solidFill>
                <a:latin typeface="Segoe UI"/>
              </a:defRPr>
            </a:pPr>
            <a:r>
              <a:t>TÍNH TỐI ƯU (OPTIMALITY)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778240" y="3675888"/>
            <a:ext cx="2286000" cy="22860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750" b="1">
                <a:solidFill>
                  <a:srgbClr val="059669"/>
                </a:solidFill>
                <a:latin typeface="Segoe UI"/>
              </a:defRPr>
            </a:pPr>
            <a:r>
              <a:t>✔ TỐI ƯU TUYỆT ĐỐI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583680" y="393192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t>Luôn tìm ra đường đi có ít bước nhất khi chi phí mỗi bước c = 1.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476695" y="4434840"/>
            <a:ext cx="4754880" cy="77724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6583680" y="4544568"/>
            <a:ext cx="2011680" cy="228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750" b="1">
                <a:solidFill>
                  <a:srgbClr val="0F172A"/>
                </a:solidFill>
                <a:latin typeface="Segoe UI"/>
              </a:defRPr>
            </a:pPr>
            <a:r>
              <a:t>ĐỘ PHỨC TẠP THỜI GIAN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778240" y="4544568"/>
            <a:ext cx="2286000" cy="228600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750" b="1">
                <a:solidFill>
                  <a:srgbClr val="D97706"/>
                </a:solidFill>
                <a:latin typeface="Segoe UI"/>
              </a:defRPr>
            </a:pPr>
            <a:r>
              <a:t>✘ O(b^d) — CHẬM TRÊN MAP RỘNG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583680" y="480060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t>b là hệ số phân nhánh (~3), d là độ sâu nghiệm. Mở rộng theo cấp số nhân.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476695" y="5303520"/>
            <a:ext cx="4754880" cy="77724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6583680" y="5413248"/>
            <a:ext cx="2011680" cy="228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750" b="1">
                <a:solidFill>
                  <a:srgbClr val="0F172A"/>
                </a:solidFill>
                <a:latin typeface="Segoe UI"/>
              </a:defRPr>
            </a:pPr>
            <a:r>
              <a:t>ĐỘ PHỨC TẠP BỘ NHỚ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8778240" y="5413248"/>
            <a:ext cx="2286000" cy="228600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750" b="1">
                <a:solidFill>
                  <a:srgbClr val="DC2626"/>
                </a:solidFill>
                <a:latin typeface="Segoe UI"/>
              </a:defRPr>
            </a:pPr>
            <a:r>
              <a:t>✘ O(b^d) — ĐIỂM YẾU CHÍ MẠNG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583680" y="566928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t>Hàng đợi phải lưu trữ toàn bộ các ô cùng cấp ở biên, dễ tràn bộ nhớ.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475488"/>
            <a:ext cx="3337560" cy="256032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PHẦN 2.2: THUẬT TOÁN TÌM KIẾM MÙ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71455" y="475488"/>
            <a:ext cx="1005840" cy="256032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SLIDE 06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749808"/>
            <a:ext cx="93268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Segoe UI"/>
              </a:defRPr>
            </a:pPr>
            <a:r>
              <a:t>Thuật toán DFS (Depth-First Search) • Ngăn xếp LIFO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078992"/>
            <a:ext cx="93268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Thuật toán tìm kiếm theo chiều sâu đâm sâu thăm dò và quay lui (Backtracking)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528816"/>
            <a:ext cx="6858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Segoe UI"/>
              </a:defRPr>
            </a:pPr>
            <a:r>
              <a:t>Trường ĐH Công nghệ Đông Á (EAUT)  •  Khoa CNTT  •  BTL Trí Tuệ Nhân Tạo (Mã Đề 02)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528816"/>
            <a:ext cx="368777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00">
                <a:solidFill>
                  <a:srgbClr val="475569"/>
                </a:solidFill>
                <a:latin typeface="Segoe UI"/>
              </a:defRPr>
            </a:pPr>
            <a:r>
              <a:t>GVHD: ThS. Trần Xuân Thanh  •  SV: Nguyễn Thanh Hùng (20232139)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00200"/>
            <a:ext cx="2468880" cy="320040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CẤU TRÚC: NGĂN XẾP LIFO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600200"/>
            <a:ext cx="2468880" cy="320040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CƠ CHẾ: ĐÂM SÂU &amp; QUAY LUI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1600200"/>
            <a:ext cx="2468880" cy="320040"/>
          </a:xfrm>
          <a:prstGeom prst="roundRect">
            <a:avLst>
              <a:gd name="adj" fmla="val 8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BỘ NHỚ: TIẾT KIỆM NHẤT O(b·m)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0" y="1600200"/>
            <a:ext cx="2468880" cy="320040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TỐI ƯU: KHÔNG TỐI ƯU (ĐƯỜNG DÀI)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103120"/>
            <a:ext cx="5212080" cy="41605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60120" y="2267712"/>
            <a:ext cx="2011680" cy="274320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NGUYÊN LÝ &amp; QUY TRÌNH THỰC THI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" y="2651760"/>
            <a:ext cx="2039112" cy="22677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51560" y="2743200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 w="9525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16736" y="2743200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FDE68A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581912" y="2743200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FDE68A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847088" y="2743200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FDE68A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112264" y="2743200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334155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377440" y="2743200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642616" y="2743200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51560" y="3008376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316736" y="3008376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334155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581912" y="3008376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334155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847088" y="3008376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FDE68A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112264" y="3008376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334155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377440" y="3008376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642616" y="3008376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51560" y="3273552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316736" y="3273552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334155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581912" y="3273552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FDE68A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847088" y="3273552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FDE68A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2112264" y="3273552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334155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2377440" y="3273552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2642616" y="3273552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051560" y="3538728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316736" y="3538728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334155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581912" y="3538728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FDE68A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847088" y="3538728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334155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2112264" y="3538728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334155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2377440" y="3538728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334155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2642616" y="3538728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1051560" y="3803904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316736" y="3803904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581912" y="3803904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FDE68A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1847088" y="3803904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059669"/>
          </a:solidFill>
          <a:ln w="9525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2112264" y="3803904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059669"/>
          </a:solidFill>
          <a:ln w="9525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2377440" y="3803904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059669"/>
          </a:solidFill>
          <a:ln w="9525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2642616" y="3803904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334155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051560" y="4069080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1316736" y="4069080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1581912" y="4069080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1847088" y="4069080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2112264" y="4069080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334155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2377440" y="4069080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059669"/>
          </a:solidFill>
          <a:ln w="9525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2642616" y="4069080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DC2626"/>
          </a:solidFill>
          <a:ln w="9525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G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51560" y="4334256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1316736" y="4334256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1581912" y="4334256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1847088" y="4334256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2112264" y="4334256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2377440" y="4334256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334155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2642616" y="4334256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60120" y="4626864"/>
            <a:ext cx="2039112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800" b="1">
                <a:solidFill>
                  <a:srgbClr val="475569"/>
                </a:solidFill>
                <a:latin typeface="Segoe UI"/>
              </a:defRPr>
            </a:pPr>
            <a:r>
              <a:t>Mô phỏng đâm sâu DFS (51 bước)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154680" y="2651760"/>
            <a:ext cx="2651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900">
                <a:solidFill>
                  <a:srgbClr val="475569"/>
                </a:solidFill>
                <a:latin typeface="Segoe UI"/>
              </a:defRPr>
            </a:pPr>
            <a:r>
              <a:t>• Cấu trúc: Ngăn xếp LIFO Stack / Đệ quy.</a:t>
            </a:r>
            <a:br/>
            <a:r>
              <a:t>• Cơ chế duyệt: Luôn đi sâu theo một nhánh cho tới khi chạm tường thì quay lui (Backtrack).</a:t>
            </a:r>
            <a:br/>
            <a:r>
              <a:t>• Các bước thực thi:</a:t>
            </a:r>
            <a:br/>
            <a:r>
              <a:t>  1. Đẩy S vào Stack.</a:t>
            </a:r>
            <a:br/>
            <a:r>
              <a:t>  2. Pop nút u ở đỉnh Stack.</a:t>
            </a:r>
            <a:br/>
            <a:r>
              <a:t>  3. Đánh dấu visited[u] = true.</a:t>
            </a:r>
            <a:br/>
            <a:r>
              <a:t>  4. Nếu u == Goal: Hoàn tất.</a:t>
            </a:r>
            <a:br/>
            <a:r>
              <a:t>  5. Đẩy các ô kề chưa thăm vào Stack theo thứ tự hướng.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248095" y="2103120"/>
            <a:ext cx="5212080" cy="41605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6476695" y="2267712"/>
            <a:ext cx="2286000" cy="274320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ĐÁNH GIÁ ĐẶC TÍNH KỸ THUẬT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476695" y="2697480"/>
            <a:ext cx="4754880" cy="77724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6583680" y="2807208"/>
            <a:ext cx="2011680" cy="228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750" b="1">
                <a:solidFill>
                  <a:srgbClr val="0F172A"/>
                </a:solidFill>
                <a:latin typeface="Segoe UI"/>
              </a:defRPr>
            </a:pPr>
            <a:r>
              <a:t>TÍNH ĐẦY ĐỦ (COMPLETENESS)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778240" y="2807208"/>
            <a:ext cx="2286000" cy="22860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750" b="1">
                <a:solidFill>
                  <a:srgbClr val="059669"/>
                </a:solidFill>
                <a:latin typeface="Segoe UI"/>
              </a:defRPr>
            </a:pPr>
            <a:r>
              <a:t>✔ ĐẦY ĐỦ CÓ ĐIỀU KIỆN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583680" y="306324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t>Đầy đủ trong không gian hữu hạn nhờ mảng visited ngăn chu trình lặp vô hạn.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476695" y="3566160"/>
            <a:ext cx="4754880" cy="77724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6583680" y="3675888"/>
            <a:ext cx="2011680" cy="228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750" b="1">
                <a:solidFill>
                  <a:srgbClr val="0F172A"/>
                </a:solidFill>
                <a:latin typeface="Segoe UI"/>
              </a:defRPr>
            </a:pPr>
            <a:r>
              <a:t>TÍNH TỐI ƯU (OPTIMALITY)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778240" y="3675888"/>
            <a:ext cx="2286000" cy="228600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750" b="1">
                <a:solidFill>
                  <a:srgbClr val="DC2626"/>
                </a:solidFill>
                <a:latin typeface="Segoe UI"/>
              </a:defRPr>
            </a:pPr>
            <a:r>
              <a:t>✘ HOÀN TOÀN KHÔNG TỐI ƯU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583680" y="393192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t>Đường đi thường rất dài, quanh co, phụ thuộc vào thứ tự rẽ hướng.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476695" y="4434840"/>
            <a:ext cx="4754880" cy="77724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6583680" y="4544568"/>
            <a:ext cx="2011680" cy="228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750" b="1">
                <a:solidFill>
                  <a:srgbClr val="0F172A"/>
                </a:solidFill>
                <a:latin typeface="Segoe UI"/>
              </a:defRPr>
            </a:pPr>
            <a:r>
              <a:t>ĐỘ PHỨC TẠP THỜI GIAN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778240" y="4544568"/>
            <a:ext cx="2286000" cy="228600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750" b="1">
                <a:solidFill>
                  <a:srgbClr val="D97706"/>
                </a:solidFill>
                <a:latin typeface="Segoe UI"/>
              </a:defRPr>
            </a:pPr>
            <a:r>
              <a:t>✘ O(b^m) — TÙY THUỘC MAY RỦI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583680" y="480060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t>Rất nhanh nếu rẽ trúng nhánh đích, nhưng rất chậm nếu lạc vào nhánh cụt sâu.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476695" y="5303520"/>
            <a:ext cx="4754880" cy="77724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6583680" y="5413248"/>
            <a:ext cx="2011680" cy="228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750" b="1">
                <a:solidFill>
                  <a:srgbClr val="0F172A"/>
                </a:solidFill>
                <a:latin typeface="Segoe UI"/>
              </a:defRPr>
            </a:pPr>
            <a:r>
              <a:t>ĐỘ PHỨC TẠP BỘ NHỚ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8778240" y="5413248"/>
            <a:ext cx="2286000" cy="22860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750" b="1">
                <a:solidFill>
                  <a:srgbClr val="059669"/>
                </a:solidFill>
                <a:latin typeface="Segoe UI"/>
              </a:defRPr>
            </a:pPr>
            <a:r>
              <a:t>✔ O(b · m) — ƯU ĐIỂM VƯỢT TRỘI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583680" y="566928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t>Chỉ cần lưu vết nhánh hiện tại trên cây tìm kiếm, tiêu tốn rất ít RAM.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475488"/>
            <a:ext cx="3977640" cy="256032"/>
          </a:xfrm>
          <a:prstGeom prst="roundRect">
            <a:avLst>
              <a:gd name="adj" fmla="val 8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PHẦN 2.3: THUẬT TOÁN TÌM KIẾM HEURISTIC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71455" y="475488"/>
            <a:ext cx="1005840" cy="256032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SLIDE 07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749808"/>
            <a:ext cx="93268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Segoe UI"/>
              </a:defRPr>
            </a:pPr>
            <a:r>
              <a:t>Thuật toán A* (A-Star Search) • Hàm đánh giá f(n) = g(n) + h(n)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078992"/>
            <a:ext cx="93268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Tiêu chuẩn vàng trong định vị AI: Kết hợp chi phí thực tế với hàm ước lượng khoảng cách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528816"/>
            <a:ext cx="6858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Segoe UI"/>
              </a:defRPr>
            </a:pPr>
            <a:r>
              <a:t>Trường ĐH Công nghệ Đông Á (EAUT)  •  Khoa CNTT  •  BTL Trí Tuệ Nhân Tạo (Mã Đề 02)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528816"/>
            <a:ext cx="368777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00">
                <a:solidFill>
                  <a:srgbClr val="475569"/>
                </a:solidFill>
                <a:latin typeface="Segoe UI"/>
              </a:defRPr>
            </a:pPr>
            <a:r>
              <a:t>GVHD: ThS. Trần Xuân Thanh  •  SV: Nguyễn Thanh Hùng (20232139)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00200"/>
            <a:ext cx="2468880" cy="320040"/>
          </a:xfrm>
          <a:prstGeom prst="roundRect">
            <a:avLst>
              <a:gd name="adj" fmla="val 8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CẤU TRÚC: HÀNG ĐỢI MIN-HEAP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600200"/>
            <a:ext cx="2468880" cy="320040"/>
          </a:xfrm>
          <a:prstGeom prst="roundRect">
            <a:avLst>
              <a:gd name="adj" fmla="val 8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HÀM HEURISTIC: MANHATTAN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1600200"/>
            <a:ext cx="2468880" cy="320040"/>
          </a:xfrm>
          <a:prstGeom prst="roundRect">
            <a:avLst>
              <a:gd name="adj" fmla="val 8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TỐI ƯU KÉP: NGẮN &amp; DUYỆT ÍT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0" y="1600200"/>
            <a:ext cx="2468880" cy="32004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TIÊU CHUẨN VÀNG: GAME &amp; ROBOT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103120"/>
            <a:ext cx="5212080" cy="41605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60120" y="2267712"/>
            <a:ext cx="2286000" cy="274320"/>
          </a:xfrm>
          <a:prstGeom prst="roundRect">
            <a:avLst>
              <a:gd name="adj" fmla="val 8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HÀM ĐÁNH GIÁ f(n) &amp; HEURISTIC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" y="2651760"/>
            <a:ext cx="2039112" cy="22677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51560" y="2743200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 w="9525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16736" y="2743200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A7F3D0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581912" y="2743200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847088" y="2743200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334155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112264" y="2743200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377440" y="2743200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642616" y="2743200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51560" y="3008376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A7F3D0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316736" y="3008376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059669"/>
          </a:solidFill>
          <a:ln w="9525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581912" y="3008376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334155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847088" y="3008376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112264" y="3008376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377440" y="3008376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642616" y="3008376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51560" y="3273552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316736" y="3273552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334155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581912" y="3273552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059669"/>
          </a:solidFill>
          <a:ln w="9525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847088" y="3273552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A7F3D0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2112264" y="3273552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334155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2377440" y="3273552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2642616" y="3273552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051560" y="3538728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316736" y="3538728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581912" y="3538728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A7F3D0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847088" y="3538728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059669"/>
          </a:solidFill>
          <a:ln w="9525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2112264" y="3538728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059669"/>
          </a:solidFill>
          <a:ln w="9525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2377440" y="3538728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334155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2642616" y="3538728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1051560" y="3803904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334155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316736" y="3803904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334155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581912" y="3803904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1847088" y="3803904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334155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2112264" y="3803904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A7F3D0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2377440" y="3803904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059669"/>
          </a:solidFill>
          <a:ln w="9525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2642616" y="3803904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334155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051560" y="4069080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1316736" y="4069080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1581912" y="4069080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1847088" y="4069080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2112264" y="4069080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334155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2377440" y="4069080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059669"/>
          </a:solidFill>
          <a:ln w="9525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2642616" y="4069080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DC2626"/>
          </a:solidFill>
          <a:ln w="9525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G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51560" y="4334256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1316736" y="4334256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1581912" y="4334256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1847088" y="4334256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2112264" y="4334256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2377440" y="4334256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334155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2642616" y="4334256"/>
            <a:ext cx="237744" cy="237744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60120" y="4626864"/>
            <a:ext cx="2039112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800" b="1">
                <a:solidFill>
                  <a:srgbClr val="475569"/>
                </a:solidFill>
                <a:latin typeface="Segoe UI"/>
              </a:defRPr>
            </a:pPr>
            <a:r>
              <a:t>Mô phỏng tia laser A* (37 bước)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3154680" y="2651760"/>
            <a:ext cx="2651760" cy="822960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200400" y="26974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59669"/>
                </a:solidFill>
                <a:latin typeface="Segoe UI"/>
              </a:defRPr>
            </a:pPr>
            <a:r>
              <a:t>f(n) = g(n) + h(n)</a:t>
            </a:r>
          </a:p>
          <a:p>
            <a:pPr algn="ctr">
              <a:defRPr sz="800">
                <a:solidFill>
                  <a:srgbClr val="475569"/>
                </a:solidFill>
                <a:latin typeface="Segoe UI"/>
              </a:defRPr>
            </a:pPr>
            <a:r>
              <a:t>g(n): Chi phí đã đi</a:t>
            </a:r>
            <a:br/>
            <a:r>
              <a:t>h(n): Ước lượng tới đích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154680" y="356616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850">
                <a:solidFill>
                  <a:srgbClr val="475569"/>
                </a:solidFill>
                <a:latin typeface="Segoe UI"/>
              </a:defRPr>
            </a:pPr>
            <a:r>
              <a:t>• Manhattan Distance:</a:t>
            </a:r>
            <a:br/>
            <a:r>
              <a:t>  h(n) = |r_n - r_g| + |c_n - c_g|</a:t>
            </a:r>
            <a:br/>
            <a:br/>
            <a:r>
              <a:t>• Tính Admissible:</a:t>
            </a:r>
            <a:br/>
            <a:r>
              <a:t>  h(n) ≤ h*(n) bảo đảm đường đi luôn ngắn nhất hoàn hảo.</a:t>
            </a:r>
            <a:br/>
            <a:br/>
            <a:r>
              <a:t>• Min-Heap Binary Tree:</a:t>
            </a:r>
            <a:br/>
            <a:r>
              <a:t>  Trích xuất phần tử tốt nhất trong O(log N).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248095" y="2103120"/>
            <a:ext cx="5212080" cy="41605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6476695" y="2267712"/>
            <a:ext cx="2286000" cy="274320"/>
          </a:xfrm>
          <a:prstGeom prst="roundRect">
            <a:avLst>
              <a:gd name="adj" fmla="val 8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ƯU ĐIỂM VƯỢT TRỘI CỦA A*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476695" y="2697480"/>
            <a:ext cx="4754880" cy="77724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6583680" y="2807208"/>
            <a:ext cx="2011680" cy="228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750" b="1">
                <a:solidFill>
                  <a:srgbClr val="0F172A"/>
                </a:solidFill>
                <a:latin typeface="Segoe UI"/>
              </a:defRPr>
            </a:pPr>
            <a:r>
              <a:t>TÍNH TỐI ƯU KÉP (OPTIMAL)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778240" y="2807208"/>
            <a:ext cx="2286000" cy="22860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750" b="1">
                <a:solidFill>
                  <a:srgbClr val="059669"/>
                </a:solidFill>
                <a:latin typeface="Segoe UI"/>
              </a:defRPr>
            </a:pPr>
            <a:r>
              <a:t>✔ NGẮN NHẤT NHƯ BFS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83680" y="306324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t>Đảm bảo 100% tìm ra đường ngắn nhất hoàn hảo khi hàm h(n) là Admissible.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476695" y="3566160"/>
            <a:ext cx="4754880" cy="77724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6583680" y="3675888"/>
            <a:ext cx="2011680" cy="228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750" b="1">
                <a:solidFill>
                  <a:srgbClr val="0F172A"/>
                </a:solidFill>
                <a:latin typeface="Segoe UI"/>
              </a:defRPr>
            </a:pPr>
            <a:r>
              <a:t>HIỆU QUẢ CẮT TỈA (PRUNING)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778240" y="3675888"/>
            <a:ext cx="2286000" cy="22860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750" b="1">
                <a:solidFill>
                  <a:srgbClr val="059669"/>
                </a:solidFill>
                <a:latin typeface="Segoe UI"/>
              </a:defRPr>
            </a:pPr>
            <a:r>
              <a:t>✔ TIẾT KIỆM 60% – 85%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583680" y="393192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t>Định hướng chùm tìm kiếm thẳng về đích, loại bỏ việc duyệt lan tỏa vô ích.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476695" y="4434840"/>
            <a:ext cx="4754880" cy="77724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6583680" y="4544568"/>
            <a:ext cx="2011680" cy="228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750" b="1">
                <a:solidFill>
                  <a:srgbClr val="0F172A"/>
                </a:solidFill>
                <a:latin typeface="Segoe UI"/>
              </a:defRPr>
            </a:pPr>
            <a:r>
              <a:t>ĐỘ PHỨC TẠP THỜI GIAN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8778240" y="4544568"/>
            <a:ext cx="2286000" cy="22860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750" b="1">
                <a:solidFill>
                  <a:srgbClr val="059669"/>
                </a:solidFill>
                <a:latin typeface="Segoe UI"/>
              </a:defRPr>
            </a:pPr>
            <a:r>
              <a:t>✔ NHANH NHẤT TRONG THỰC TẾ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583680" y="480060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t>Số lượng ô cần mở rộng giảm từ 3 đến 5 lần so với BFS trên cùng một bản đồ.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476695" y="5303520"/>
            <a:ext cx="4754880" cy="77724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6583680" y="5413248"/>
            <a:ext cx="2011680" cy="228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750" b="1">
                <a:solidFill>
                  <a:srgbClr val="0F172A"/>
                </a:solidFill>
                <a:latin typeface="Segoe UI"/>
              </a:defRPr>
            </a:pPr>
            <a:r>
              <a:t>ỨNG DỤNG CÔNG NGHIỆP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8778240" y="5413248"/>
            <a:ext cx="2286000" cy="2286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750" b="1">
                <a:solidFill>
                  <a:srgbClr val="2563EB"/>
                </a:solidFill>
                <a:latin typeface="Segoe UI"/>
              </a:defRPr>
            </a:pPr>
            <a:r>
              <a:t>✔ TIÊU CHUẨN SỐ 1 TOÀN CẦU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583680" y="566928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t>Thuật toán cốt lõi trong Navigation Game Engine (Unity, Unreal) và Robot AGV.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475488"/>
            <a:ext cx="2880360" cy="256032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PHẦN 3: KẾT QUẢ THỰC NGHIỆM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71455" y="475488"/>
            <a:ext cx="1005840" cy="256032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SLIDE 08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749808"/>
            <a:ext cx="93268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Segoe UI"/>
              </a:defRPr>
            </a:pPr>
            <a:r>
              <a:t>Bảng đối sánh hiệu năng thực tế trên các dạng địa hình (Lưới 21 × 21)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078992"/>
            <a:ext cx="93268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Số liệu đo đạc thực tế kiểm thử phần mềm trên 4 cấu trúc mê cung đại diện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528816"/>
            <a:ext cx="6858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Segoe UI"/>
              </a:defRPr>
            </a:pPr>
            <a:r>
              <a:t>Trường ĐH Công nghệ Đông Á (EAUT)  •  Khoa CNTT  •  BTL Trí Tuệ Nhân Tạo (Mã Đề 02)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528816"/>
            <a:ext cx="368777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00">
                <a:solidFill>
                  <a:srgbClr val="475569"/>
                </a:solidFill>
                <a:latin typeface="Segoe UI"/>
              </a:defRPr>
            </a:pPr>
            <a:r>
              <a:t>GVHD: ThS. Trần Xuân Thanh  •  SV: Nguyễn Thanh Hùng (20232139)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554480"/>
            <a:ext cx="3383280" cy="1097280"/>
          </a:xfrm>
          <a:prstGeom prst="roundRect">
            <a:avLst>
              <a:gd name="adj" fmla="val 3000"/>
            </a:avLst>
          </a:prstGeom>
          <a:solidFill>
            <a:srgbClr val="059669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627632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FFFFFF"/>
                </a:solidFill>
                <a:latin typeface="Segoe UI"/>
              </a:defRPr>
            </a:pPr>
            <a:r>
              <a:t>-81.0% Ô DUYỆT</a:t>
            </a:r>
          </a:p>
          <a:p>
            <a:pPr>
              <a:defRPr sz="950">
                <a:solidFill>
                  <a:srgbClr val="FFFFFF"/>
                </a:solidFill>
                <a:latin typeface="Segoe UI"/>
              </a:defRPr>
            </a:pPr>
            <a:r>
              <a:t>A* chỉ duyệt 55 ô so với 290 ô BFS trên Open Field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3750" y="1554480"/>
            <a:ext cx="3383280" cy="1097280"/>
          </a:xfrm>
          <a:prstGeom prst="roundRect">
            <a:avLst>
              <a:gd name="adj" fmla="val 3000"/>
            </a:avLst>
          </a:prstGeom>
          <a:solidFill>
            <a:srgbClr val="2563EB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86630" y="1627632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FFFFFF"/>
                </a:solidFill>
                <a:latin typeface="Segoe UI"/>
              </a:defRPr>
            </a:pPr>
            <a:r>
              <a:t>37 BƯỚC TỐI ƯU</a:t>
            </a:r>
          </a:p>
          <a:p>
            <a:pPr>
              <a:defRPr sz="950">
                <a:solidFill>
                  <a:srgbClr val="FFFFFF"/>
                </a:solidFill>
                <a:latin typeface="Segoe UI"/>
              </a:defRPr>
            </a:pPr>
            <a:r>
              <a:t>A* và BFS cùng đạt đường đi ngắn nhất hoàn hảo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76895" y="1554480"/>
            <a:ext cx="3383280" cy="1097280"/>
          </a:xfrm>
          <a:prstGeom prst="roundRect">
            <a:avLst>
              <a:gd name="adj" fmla="val 3000"/>
            </a:avLst>
          </a:prstGeom>
          <a:solidFill>
            <a:srgbClr val="D97706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59775" y="1627632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FFFFFF"/>
                </a:solidFill>
                <a:latin typeface="Segoe UI"/>
              </a:defRPr>
            </a:pPr>
            <a:r>
              <a:t>+37.8% ĐỘ DÀI</a:t>
            </a:r>
          </a:p>
          <a:p>
            <a:pPr>
              <a:defRPr sz="950">
                <a:solidFill>
                  <a:srgbClr val="FFFFFF"/>
                </a:solidFill>
                <a:latin typeface="Segoe UI"/>
              </a:defRPr>
            </a:pPr>
            <a:r>
              <a:t>DFS đi dài 51 bước do thiếu hàm định hướng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731520" y="2788920"/>
          <a:ext cx="10728655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005840"/>
                <a:gridCol w="1737360"/>
                <a:gridCol w="1554480"/>
                <a:gridCol w="1645920"/>
                <a:gridCol w="2773375"/>
              </a:tblGrid>
              <a:tr h="704088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Bản đồ kiểm thử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Thuật toán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Số ô đã duyệt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Độ dài đường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Thời gian thực thi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Đánh giá tính tối ưu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Bãi vật cản ngẫu nhiên</a:t>
                      </a:r>
                    </a:p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(Open Field 21×21)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BFS</a:t>
                      </a:r>
                    </a:p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DFS</a:t>
                      </a:r>
                    </a:p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A*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290 ô (65.7%)</a:t>
                      </a:r>
                    </a:p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64 ô (14.5%)</a:t>
                      </a:r>
                    </a:p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55 ô (12.4%)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37 bước</a:t>
                      </a:r>
                    </a:p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51 bước</a:t>
                      </a:r>
                    </a:p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37 bước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3.07 ms</a:t>
                      </a:r>
                    </a:p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0.77 ms</a:t>
                      </a:r>
                    </a:p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1.01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Tối ưu ngắn nhất</a:t>
                      </a:r>
                    </a:p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Không tối ưu (+37.8% dài)</a:t>
                      </a:r>
                    </a:p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Tối ưu kép (Nhanh &amp; Ngắn)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Mê cung xoắn ốc</a:t>
                      </a:r>
                    </a:p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(Spiral Maze 21×21)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BFS</a:t>
                      </a:r>
                    </a:p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DFS</a:t>
                      </a:r>
                    </a:p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A*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99 ô (22.4%)</a:t>
                      </a:r>
                    </a:p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194 ô (43.9%)</a:t>
                      </a:r>
                    </a:p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43 ô (9.7%)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19 bước</a:t>
                      </a:r>
                    </a:p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25 bước</a:t>
                      </a:r>
                    </a:p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19 bước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1.15 ms</a:t>
                      </a:r>
                    </a:p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1.40 ms</a:t>
                      </a:r>
                    </a:p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0.65 ms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Tối ưu ngắn nhất</a:t>
                      </a:r>
                    </a:p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Bị lạc theo vòng xoắn</a:t>
                      </a:r>
                    </a:p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Vượt trội định hướng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Mê cung hoàn hảo</a:t>
                      </a:r>
                    </a:p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(DFS Backtracker)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BFS</a:t>
                      </a:r>
                    </a:p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DFS</a:t>
                      </a:r>
                    </a:p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A*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185 ô (41.9%)</a:t>
                      </a:r>
                    </a:p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140 ô (31.7%)</a:t>
                      </a:r>
                    </a:p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88 ô (19.9%)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41 bước</a:t>
                      </a:r>
                    </a:p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49 bước</a:t>
                      </a:r>
                    </a:p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41 bước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2.10 ms</a:t>
                      </a:r>
                    </a:p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1.20 ms</a:t>
                      </a:r>
                    </a:p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0.95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Tối ưu ngắn nhất</a:t>
                      </a:r>
                    </a:p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Nhiều nhánh cụt</a:t>
                      </a:r>
                    </a:p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Tìm ngách chính xác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Bẫy không lối thoát</a:t>
                      </a:r>
                    </a:p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(No-Path Cô lập)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BFS</a:t>
                      </a:r>
                    </a:p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DFS</a:t>
                      </a:r>
                    </a:p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A*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Toàn bộ ô thông</a:t>
                      </a:r>
                    </a:p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Toàn bộ ô thông</a:t>
                      </a:r>
                    </a:p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Toàn bộ ô thông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 bước (Vô nghiệm)</a:t>
                      </a:r>
                    </a:p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 bước (Vô nghiệm)</a:t>
                      </a:r>
                    </a:p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 bước (Vô nghiệm)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1.60 ms</a:t>
                      </a:r>
                    </a:p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1.30 ms</a:t>
                      </a:r>
                    </a:p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1.45 ms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Dừng an toàn (Vô nghiệm)</a:t>
                      </a:r>
                    </a:p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Dừng an toàn (Vô nghiệm)</a:t>
                      </a:r>
                    </a:p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Dừng an toàn (Vô nghiệm)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475488"/>
            <a:ext cx="2880360" cy="256032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PHẦN 3.1: SO SÁNH TOÀN DIỆN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71455" y="475488"/>
            <a:ext cx="1005840" cy="256032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SLIDE 09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749808"/>
            <a:ext cx="93268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Segoe UI"/>
              </a:defRPr>
            </a:pPr>
            <a:r>
              <a:t>Đánh giá 3 thuật toán theo 4 tiêu chuẩn kinh điển của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078992"/>
            <a:ext cx="93268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Đối sánh trực tiếp theo giáo trình Trí Tuệ Nhân Tạo quốc tế của Russell &amp; Norvig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528816"/>
            <a:ext cx="6858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Segoe UI"/>
              </a:defRPr>
            </a:pPr>
            <a:r>
              <a:t>Trường ĐH Công nghệ Đông Á (EAUT)  •  Khoa CNTT  •  BTL Trí Tuệ Nhân Tạo (Mã Đề 02)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528816"/>
            <a:ext cx="368777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00">
                <a:solidFill>
                  <a:srgbClr val="475569"/>
                </a:solidFill>
                <a:latin typeface="Segoe UI"/>
              </a:defRPr>
            </a:pPr>
            <a:r>
              <a:t>GVHD: ThS. Trần Xuân Thanh  •  SV: Nguyễn Thanh Hùng (20232139)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00200"/>
            <a:ext cx="5212080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1737360"/>
            <a:ext cx="3063240" cy="27432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1. TÍNH ĐẦY ĐỦ (COMPLETENESS)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093976"/>
            <a:ext cx="4846320" cy="475488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05840" y="2203704"/>
            <a:ext cx="594360" cy="2560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00" b="1">
                <a:solidFill>
                  <a:srgbClr val="0F172A"/>
                </a:solidFill>
                <a:latin typeface="Segoe UI"/>
              </a:defRPr>
            </a:pPr>
            <a:r>
              <a:t>BFS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91640" y="2203704"/>
            <a:ext cx="1691640" cy="256032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750" b="1">
                <a:solidFill>
                  <a:srgbClr val="059669"/>
                </a:solidFill>
                <a:latin typeface="Segoe UI"/>
              </a:defRPr>
            </a:pPr>
            <a:r>
              <a:t>✔ ĐẦY ĐỦ 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6432" y="2185416"/>
            <a:ext cx="22402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Segoe UI"/>
              </a:defRPr>
            </a:pPr>
            <a:r>
              <a:t>Chắc chắn tìm thấy nghiệm nếu tồn tại đường đi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2642616"/>
            <a:ext cx="4846320" cy="475488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05840" y="2752344"/>
            <a:ext cx="594360" cy="2560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00" b="1">
                <a:solidFill>
                  <a:srgbClr val="0F172A"/>
                </a:solidFill>
                <a:latin typeface="Segoe UI"/>
              </a:defRPr>
            </a:pPr>
            <a:r>
              <a:t>DFS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691640" y="2752344"/>
            <a:ext cx="1691640" cy="256032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750" b="1">
                <a:solidFill>
                  <a:srgbClr val="059669"/>
                </a:solidFill>
                <a:latin typeface="Segoe UI"/>
              </a:defRPr>
            </a:pPr>
            <a:r>
              <a:t>✔ ĐẦY ĐỦ CÓ ĐIỀU KIỆN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56432" y="2734056"/>
            <a:ext cx="22402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Segoe UI"/>
              </a:defRPr>
            </a:pPr>
            <a:r>
              <a:t>Nhờ mảng visited kiểm soát chu trình lặp vô hạn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3191256"/>
            <a:ext cx="4846320" cy="475488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05840" y="3300984"/>
            <a:ext cx="594360" cy="2560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00" b="1">
                <a:solidFill>
                  <a:srgbClr val="0F172A"/>
                </a:solidFill>
                <a:latin typeface="Segoe UI"/>
              </a:defRPr>
            </a:pPr>
            <a:r>
              <a:t>A*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691640" y="3300984"/>
            <a:ext cx="1691640" cy="256032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750" b="1">
                <a:solidFill>
                  <a:srgbClr val="059669"/>
                </a:solidFill>
                <a:latin typeface="Segoe UI"/>
              </a:defRPr>
            </a:pPr>
            <a:r>
              <a:t>✔ ĐẦY ĐỦ 100%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3282696"/>
            <a:ext cx="22402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Segoe UI"/>
              </a:defRPr>
            </a:pPr>
            <a:r>
              <a:t>Đảm bảo với hàm Heuristic Admissible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48095" y="1600200"/>
            <a:ext cx="5212080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30975" y="1737360"/>
            <a:ext cx="2880360" cy="274320"/>
          </a:xfrm>
          <a:prstGeom prst="roundRect">
            <a:avLst>
              <a:gd name="adj" fmla="val 8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2. TÍNH TỐI ƯU (OPTIMALITY)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30975" y="2093976"/>
            <a:ext cx="4846320" cy="475488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522415" y="2203704"/>
            <a:ext cx="594360" cy="2560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00" b="1">
                <a:solidFill>
                  <a:srgbClr val="0F172A"/>
                </a:solidFill>
                <a:latin typeface="Segoe UI"/>
              </a:defRPr>
            </a:pPr>
            <a:r>
              <a:t>BFS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08215" y="2203704"/>
            <a:ext cx="1691640" cy="256032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750" b="1">
                <a:solidFill>
                  <a:srgbClr val="059669"/>
                </a:solidFill>
                <a:latin typeface="Segoe UI"/>
              </a:defRPr>
            </a:pPr>
            <a:r>
              <a:t>✔ TỐI ƯU HOÀN HẢO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73007" y="2185416"/>
            <a:ext cx="22402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Segoe UI"/>
              </a:defRPr>
            </a:pPr>
            <a:r>
              <a:t>Đường ngắn nhất khi chi phí bước c = 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30975" y="2642616"/>
            <a:ext cx="4846320" cy="475488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22415" y="2752344"/>
            <a:ext cx="594360" cy="2560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00" b="1">
                <a:solidFill>
                  <a:srgbClr val="0F172A"/>
                </a:solidFill>
                <a:latin typeface="Segoe UI"/>
              </a:defRPr>
            </a:pPr>
            <a:r>
              <a:t>DFS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208215" y="2752344"/>
            <a:ext cx="1691640" cy="256032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750" b="1">
                <a:solidFill>
                  <a:srgbClr val="DC2626"/>
                </a:solidFill>
                <a:latin typeface="Segoe UI"/>
              </a:defRPr>
            </a:pPr>
            <a:r>
              <a:t>✘ KHÔNG TỐI ƯU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73007" y="2734056"/>
            <a:ext cx="22402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Segoe UI"/>
              </a:defRPr>
            </a:pPr>
            <a:r>
              <a:t>Đường đi thường rất dài, quanh co (+38%)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30975" y="3191256"/>
            <a:ext cx="4846320" cy="475488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522415" y="3300984"/>
            <a:ext cx="594360" cy="2560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00" b="1">
                <a:solidFill>
                  <a:srgbClr val="0F172A"/>
                </a:solidFill>
                <a:latin typeface="Segoe UI"/>
              </a:defRPr>
            </a:pPr>
            <a:r>
              <a:t>A*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208215" y="3300984"/>
            <a:ext cx="1691640" cy="256032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750" b="1">
                <a:solidFill>
                  <a:srgbClr val="059669"/>
                </a:solidFill>
                <a:latin typeface="Segoe UI"/>
              </a:defRPr>
            </a:pPr>
            <a:r>
              <a:t>✔ TỐI ƯU TUYỆT ĐỐI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73007" y="3282696"/>
            <a:ext cx="22402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Segoe UI"/>
              </a:defRPr>
            </a:pPr>
            <a:r>
              <a:t>Đường đi ngắn nhất tương đương BFS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" y="4069080"/>
            <a:ext cx="5212080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14400" y="4206240"/>
            <a:ext cx="3246120" cy="274320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3. ĐỘ PHỨC TẠP THỜI GIAN (TIME)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" y="4562856"/>
            <a:ext cx="4846320" cy="475488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005840" y="4672584"/>
            <a:ext cx="594360" cy="2560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00" b="1">
                <a:solidFill>
                  <a:srgbClr val="0F172A"/>
                </a:solidFill>
                <a:latin typeface="Segoe UI"/>
              </a:defRPr>
            </a:pPr>
            <a:r>
              <a:t>BFS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691640" y="4672584"/>
            <a:ext cx="1691640" cy="256032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750" b="1">
                <a:solidFill>
                  <a:srgbClr val="D97706"/>
                </a:solidFill>
                <a:latin typeface="Segoe UI"/>
              </a:defRPr>
            </a:pPr>
            <a:r>
              <a:t>✘ O(b^d) — CHẬM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56432" y="4654296"/>
            <a:ext cx="22402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Segoe UI"/>
              </a:defRPr>
            </a:pPr>
            <a:r>
              <a:t>Mở rộng lan tỏa đồng tâm toàn bộ các mức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4400" y="5111496"/>
            <a:ext cx="4846320" cy="475488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1005840" y="5221224"/>
            <a:ext cx="594360" cy="2560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00" b="1">
                <a:solidFill>
                  <a:srgbClr val="0F172A"/>
                </a:solidFill>
                <a:latin typeface="Segoe UI"/>
              </a:defRPr>
            </a:pPr>
            <a:r>
              <a:t>DFS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691640" y="5221224"/>
            <a:ext cx="1691640" cy="256032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750" b="1">
                <a:solidFill>
                  <a:srgbClr val="D97706"/>
                </a:solidFill>
                <a:latin typeface="Segoe UI"/>
              </a:defRPr>
            </a:pPr>
            <a:r>
              <a:t>⚡ O(b^m) — TÙY THUỘC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56432" y="5202936"/>
            <a:ext cx="22402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Segoe UI"/>
              </a:defRPr>
            </a:pPr>
            <a:r>
              <a:t>Rất nhanh nếu may mắn rẽ đúng nhánh đích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14400" y="5660136"/>
            <a:ext cx="4846320" cy="475488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05840" y="5769864"/>
            <a:ext cx="594360" cy="2560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00" b="1">
                <a:solidFill>
                  <a:srgbClr val="0F172A"/>
                </a:solidFill>
                <a:latin typeface="Segoe UI"/>
              </a:defRPr>
            </a:pPr>
            <a:r>
              <a:t>A*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691640" y="5769864"/>
            <a:ext cx="1691640" cy="256032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750" b="1">
                <a:solidFill>
                  <a:srgbClr val="059669"/>
                </a:solidFill>
                <a:latin typeface="Segoe UI"/>
              </a:defRPr>
            </a:pPr>
            <a:r>
              <a:t>✔ TỐI ƯU NHẤT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456432" y="5751576"/>
            <a:ext cx="22402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Segoe UI"/>
              </a:defRPr>
            </a:pPr>
            <a:r>
              <a:t>Cắt tỉa từ 60% – 85% số ô duyệt thừa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248095" y="4069080"/>
            <a:ext cx="5212080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6430975" y="4206240"/>
            <a:ext cx="3063240" cy="2743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4. ĐỘ PHỨC TẠP BỘ NHỚ (SPACE)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430975" y="4562856"/>
            <a:ext cx="4846320" cy="475488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6522415" y="4672584"/>
            <a:ext cx="594360" cy="2560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00" b="1">
                <a:solidFill>
                  <a:srgbClr val="0F172A"/>
                </a:solidFill>
                <a:latin typeface="Segoe UI"/>
              </a:defRPr>
            </a:pPr>
            <a:r>
              <a:t>BFS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208215" y="4672584"/>
            <a:ext cx="1691640" cy="256032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750" b="1">
                <a:solidFill>
                  <a:srgbClr val="DC2626"/>
                </a:solidFill>
                <a:latin typeface="Segoe UI"/>
              </a:defRPr>
            </a:pPr>
            <a:r>
              <a:t>✘ O(b^d) — TỐN RAM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973007" y="4654296"/>
            <a:ext cx="22402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Segoe UI"/>
              </a:defRPr>
            </a:pPr>
            <a:r>
              <a:t>Lưu toàn bộ các đỉnh mức d trong Queue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430975" y="5111496"/>
            <a:ext cx="4846320" cy="475488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6522415" y="5221224"/>
            <a:ext cx="594360" cy="2560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00" b="1">
                <a:solidFill>
                  <a:srgbClr val="0F172A"/>
                </a:solidFill>
                <a:latin typeface="Segoe UI"/>
              </a:defRPr>
            </a:pPr>
            <a:r>
              <a:t>DFS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208215" y="5221224"/>
            <a:ext cx="1691640" cy="256032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750" b="1">
                <a:solidFill>
                  <a:srgbClr val="059669"/>
                </a:solidFill>
                <a:latin typeface="Segoe UI"/>
              </a:defRPr>
            </a:pPr>
            <a:r>
              <a:t>✔ O(b · m) — TIẾT KIỆM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973007" y="5202936"/>
            <a:ext cx="22402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Segoe UI"/>
              </a:defRPr>
            </a:pPr>
            <a:r>
              <a:t>Chỉ giữ vết nhánh hiện tại trên cây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430975" y="5660136"/>
            <a:ext cx="4846320" cy="475488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6522415" y="5769864"/>
            <a:ext cx="594360" cy="2560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00" b="1">
                <a:solidFill>
                  <a:srgbClr val="0F172A"/>
                </a:solidFill>
                <a:latin typeface="Segoe UI"/>
              </a:defRPr>
            </a:pPr>
            <a:r>
              <a:t>A*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208215" y="5769864"/>
            <a:ext cx="1691640" cy="256032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750" b="1">
                <a:solidFill>
                  <a:srgbClr val="2563EB"/>
                </a:solidFill>
                <a:latin typeface="Segoe UI"/>
              </a:defRPr>
            </a:pPr>
            <a:r>
              <a:t>✔ TIẾT KIỆM HƠN BFS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973007" y="5751576"/>
            <a:ext cx="22402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Segoe UI"/>
              </a:defRPr>
            </a:pPr>
            <a:r>
              <a:t>Quản lý Open/Closed Set qua Min-Heap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475488"/>
            <a:ext cx="2697480" cy="256032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PHẦN 3.2: TỔNG KẾT ĐỀ TÀI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71455" y="475488"/>
            <a:ext cx="1005840" cy="256032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SLIDE 10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749808"/>
            <a:ext cx="93268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Segoe UI"/>
              </a:defRPr>
            </a:pPr>
            <a:r>
              <a:t>Kết luận khoa học &amp; Hướng mở rộng phát triển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078992"/>
            <a:ext cx="93268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Đúc kết bài học thực nghiệm và định hướng mở rộng nghiên cứu trong tương lai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528816"/>
            <a:ext cx="6858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Segoe UI"/>
              </a:defRPr>
            </a:pPr>
            <a:r>
              <a:t>Trường ĐH Công nghệ Đông Á (EAUT)  •  Khoa CNTT  •  BTL Trí Tuệ Nhân Tạo (Mã Đề 02)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528816"/>
            <a:ext cx="368777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00">
                <a:solidFill>
                  <a:srgbClr val="475569"/>
                </a:solidFill>
                <a:latin typeface="Segoe UI"/>
              </a:defRPr>
            </a:pPr>
            <a:r>
              <a:t>GVHD: ThS. Trần Xuân Thanh  •  SV: Nguyễn Thanh Hùng (20232139)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00200"/>
            <a:ext cx="5212080" cy="46177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60120" y="1737360"/>
            <a:ext cx="2377440" cy="27432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1. KẾT LUẬN KHOA HỌC ĐỀ TÀI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2148840"/>
            <a:ext cx="4754880" cy="86868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97280" y="2258568"/>
            <a:ext cx="502920" cy="228600"/>
          </a:xfrm>
          <a:prstGeom prst="roundRect">
            <a:avLst>
              <a:gd name="adj" fmla="val 6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2221992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Hoàn thành 100% mục tiêu BTL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51460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t>Xây dựng phần mềm mô phỏng song song 3 thuật toán BFS, DFS và A* với đồ họa phẳng, đo đạc thời gian thực mili-giây.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" y="3108960"/>
            <a:ext cx="4754880" cy="86868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97280" y="3218688"/>
            <a:ext cx="502920" cy="228600"/>
          </a:xfrm>
          <a:prstGeom prst="roundRect">
            <a:avLst>
              <a:gd name="adj" fmla="val 6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3182112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Khẳng định lý thuyết AI qua thực nghiệm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47472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t>Tìm kiếm có tri thức (Informed Heuristic) vượt trội hoàn toàn: A* cắt giảm từ 60% – 85% ô duyệt so với BFS.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" y="4069080"/>
            <a:ext cx="4754880" cy="86868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97280" y="4178808"/>
            <a:ext cx="502920" cy="228600"/>
          </a:xfrm>
          <a:prstGeom prst="roundRect">
            <a:avLst>
              <a:gd name="adj" fmla="val 6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4142232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Kiểm soát an toàn tính dừng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43484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t>Cả 3 thuật toán nhận diện chính xác trường hợp vô nghiệm khi điểm đích bị tường vây kín, tuyệt đối không lặp vô tận.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0120" y="5029200"/>
            <a:ext cx="4754880" cy="86868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97280" y="5138928"/>
            <a:ext cx="502920" cy="228600"/>
          </a:xfrm>
          <a:prstGeom prst="roundRect">
            <a:avLst>
              <a:gd name="adj" fmla="val 6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91640" y="5102352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Tối ưu hóa cấu trúc dữ liệu Min-Heap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39496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t>Sử dụng hàng đợi ưu tiên nhị phân giúp A* trích xuất trạng thái tốt nhất trong O(log N), duy trì độ mượt trên map lớn 41×41.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48095" y="1600200"/>
            <a:ext cx="5212080" cy="46177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76695" y="1737360"/>
            <a:ext cx="2377440" cy="274320"/>
          </a:xfrm>
          <a:prstGeom prst="roundRect">
            <a:avLst>
              <a:gd name="adj" fmla="val 8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2. HƯỚNG MỞ RỘNG PHÁT TRIỂN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76695" y="2148840"/>
            <a:ext cx="4754880" cy="86868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613855" y="2258568"/>
            <a:ext cx="502920" cy="228600"/>
          </a:xfrm>
          <a:prstGeom prst="roundRect">
            <a:avLst>
              <a:gd name="adj" fmla="val 6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08215" y="2221992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Mở rộng 8 hướng di chuyển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13855" y="251460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t>Cho phép tác tử đi đường chéo với chi phí bước c = √2 ≈ 1.414 và hàm Heuristic Chebyshev / Octile Distance.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76695" y="3108960"/>
            <a:ext cx="4754880" cy="86868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613855" y="3218688"/>
            <a:ext cx="502920" cy="228600"/>
          </a:xfrm>
          <a:prstGeom prst="roundRect">
            <a:avLst>
              <a:gd name="adj" fmla="val 6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08215" y="3182112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Bản đồ có trọng số địa hình (Weighted Map)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13855" y="347472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t>Mô phỏng địa hình đầm lầy, đồi dốc hoặc đường cao tốc với chi phí di chuyển khác nhau (Dijkstra / Weighted A*).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76695" y="4069080"/>
            <a:ext cx="4754880" cy="86868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613855" y="4178808"/>
            <a:ext cx="502920" cy="228600"/>
          </a:xfrm>
          <a:prstGeom prst="roundRect">
            <a:avLst>
              <a:gd name="adj" fmla="val 6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08215" y="4142232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Ứng dụng Jump Point Search (JPS)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13855" y="443484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t>Kỹ thuật nhảy cóc qua các ô đối xứng, giúp thuật toán A* tăng tốc gấp 10-50 lần trên bản đồ lưới phẳng.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76695" y="5029200"/>
            <a:ext cx="4754880" cy="86868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613855" y="5138928"/>
            <a:ext cx="502920" cy="228600"/>
          </a:xfrm>
          <a:prstGeom prst="roundRect">
            <a:avLst>
              <a:gd name="adj" fmla="val 6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08215" y="5102352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Hierarchical Pathfinding (HPA*)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13855" y="539496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t>Phân cấp cụm bản đồ quy mô lớn (Clustering), ứng dụng trong các tựa Game thế giới mở và Robot kho thông minh.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475488"/>
            <a:ext cx="2606040" cy="256032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PHẦN 4: DEMO THỰC NGHIỆM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71455" y="475488"/>
            <a:ext cx="1005840" cy="256032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SLIDE 11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749808"/>
            <a:ext cx="93268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Segoe UI"/>
              </a:defRPr>
            </a:pPr>
            <a:r>
              <a:t>Kịch bản các bước chạy Demo tương tác trực tiếp trên phần mềm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078992"/>
            <a:ext cx="93268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Trình diễn trực tiếp quá trình tìm đường song song, đo lường KPI và biểu đồ Chart.js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528816"/>
            <a:ext cx="6858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Segoe UI"/>
              </a:defRPr>
            </a:pPr>
            <a:r>
              <a:t>Trường ĐH Công nghệ Đông Á (EAUT)  •  Khoa CNTT  •  BTL Trí Tuệ Nhân Tạo (Mã Đề 02)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528816"/>
            <a:ext cx="3687775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00">
                <a:solidFill>
                  <a:srgbClr val="475569"/>
                </a:solidFill>
                <a:latin typeface="Segoe UI"/>
              </a:defRPr>
            </a:pPr>
            <a:r>
              <a:t>GVHD: ThS. Trần Xuân Thanh  •  SV: Nguyễn Thanh Hùng (20232139)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00200"/>
            <a:ext cx="5669280" cy="46177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60120" y="1783080"/>
            <a:ext cx="2560320" cy="27432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KIẾN TRÚC GIAO DIỆN PHẦN MỀM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2194560"/>
            <a:ext cx="1645920" cy="1371600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286000"/>
            <a:ext cx="1554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LƯỚI BFS</a:t>
            </a:r>
          </a:p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t>Sóng lan tỏa</a:t>
            </a:r>
            <a:br/>
            <a:r>
              <a:t>FIFO Queue</a:t>
            </a:r>
            <a:br/>
            <a:r>
              <a:t>37 bước tối ưu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2194560"/>
            <a:ext cx="1645920" cy="1371600"/>
          </a:xfrm>
          <a:prstGeom prst="roundRect">
            <a:avLst>
              <a:gd name="adj" fmla="val 3000"/>
            </a:avLst>
          </a:prstGeom>
          <a:solidFill>
            <a:srgbClr val="FFFBEB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88920" y="2286000"/>
            <a:ext cx="1554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  <a:latin typeface="Segoe UI"/>
              </a:defRPr>
            </a:pPr>
            <a:r>
              <a:t>LƯỚI DFS</a:t>
            </a:r>
          </a:p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t>Đâm sâu nhánh</a:t>
            </a:r>
            <a:br/>
            <a:r>
              <a:t>LIFO Stack</a:t>
            </a:r>
            <a:br/>
            <a:r>
              <a:t>51 bước quanh co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26280" y="2194560"/>
            <a:ext cx="1691640" cy="1371600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2286000"/>
            <a:ext cx="1600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Segoe UI"/>
              </a:defRPr>
            </a:pPr>
            <a:r>
              <a:t>LƯỚI A*</a:t>
            </a:r>
          </a:p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t>Tia định hướng</a:t>
            </a:r>
            <a:br/>
            <a:r>
              <a:t>Min-Heap Heuristic</a:t>
            </a:r>
            <a:br/>
            <a:r>
              <a:t>37 bước siêu tốc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" y="3703320"/>
            <a:ext cx="5257800" cy="109728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3794760"/>
            <a:ext cx="4983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BẢNG HUD CHỈ SỐ THỜI GIAN THỰC (REALTIME KPI)</a:t>
            </a:r>
          </a:p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t>• Thời gian thực thi (ms)   • Số ô duyệt (Visited &amp; %)   • Độ dài đường (Path Length)   • Bộ nhớ Max Frontier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" y="4937760"/>
            <a:ext cx="5257800" cy="109728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029200"/>
            <a:ext cx="4983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THANH ĐIỀU KHIỂN &amp; BỘ SINH MÊ CUNG THÔNG MINH</a:t>
            </a:r>
          </a:p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t>• Lưới mặc định 15×15, hỗ trợ 21×21, 31×31, 41×41   • Nút Chạy song song   • Nút Giải tức thì (Benchmark)   • 3 Biểu đồ Chart.js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05295" y="1600200"/>
            <a:ext cx="4754880" cy="46177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903720" y="1783080"/>
            <a:ext cx="2377440" cy="274320"/>
          </a:xfrm>
          <a:prstGeom prst="roundRect">
            <a:avLst>
              <a:gd name="adj" fmla="val 8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KỊCH BẢN DEMO 4 BƯỚC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03720" y="2194560"/>
            <a:ext cx="4343400" cy="86868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040880" y="2304288"/>
            <a:ext cx="868680" cy="228600"/>
          </a:xfrm>
          <a:prstGeom prst="roundRect">
            <a:avLst>
              <a:gd name="adj" fmla="val 6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750" b="1">
                <a:solidFill>
                  <a:srgbClr val="FFFFFF"/>
                </a:solidFill>
                <a:latin typeface="Segoe UI"/>
              </a:defRPr>
            </a:pPr>
            <a:r>
              <a:t>BƯỚC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1000" y="2286000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Khởi chạy cơ bản trên mê cung 15 × 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2578608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t>Bấm 'Chạy song song' để hội đồng quan sát đồng thời 3 cơ chế: BFS lan tỏa đều, DFS đâm sâu một mạch, A* phóng thẳng về đích.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03720" y="3154680"/>
            <a:ext cx="4343400" cy="86868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040880" y="3264408"/>
            <a:ext cx="868680" cy="228600"/>
          </a:xfrm>
          <a:prstGeom prst="roundRect">
            <a:avLst>
              <a:gd name="adj" fmla="val 6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750" b="1">
                <a:solidFill>
                  <a:srgbClr val="FFFFFF"/>
                </a:solidFill>
                <a:latin typeface="Segoe UI"/>
              </a:defRPr>
            </a:pPr>
            <a:r>
              <a:t>BƯỚC 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0" y="3246120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Thử nghiệm Bãi vật cản (Open Field 21×21)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3538728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t>Minh chứng trực quan sự vượt trội của A*: Chỉ duyệt 55 ô so với 290 ô BFS (tiết kiệm 81%), cùng đạt 37 bước ngắn nhất.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903720" y="4114800"/>
            <a:ext cx="4343400" cy="86868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040880" y="4224528"/>
            <a:ext cx="868680" cy="228600"/>
          </a:xfrm>
          <a:prstGeom prst="roundRect">
            <a:avLst>
              <a:gd name="adj" fmla="val 6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750" b="1">
                <a:solidFill>
                  <a:srgbClr val="FFFFFF"/>
                </a:solidFill>
                <a:latin typeface="Segoe UI"/>
              </a:defRPr>
            </a:pPr>
            <a:r>
              <a:t>BƯỚC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01000" y="4206240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Kiểm tra Mê cung xoắn ốc &amp; Bẫy No-Path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0" y="4498848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t>Chứng minh DFS bị đánh lừa đi hết vòng xoắn dài. Thử nghiệm bẫy cô lập để chứng minh hệ thống dừng an toàn và báo vô nghiệm.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903720" y="5074920"/>
            <a:ext cx="4343400" cy="86868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040880" y="5184648"/>
            <a:ext cx="868680" cy="2286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750" b="1">
                <a:solidFill>
                  <a:srgbClr val="FFFFFF"/>
                </a:solidFill>
                <a:latin typeface="Segoe UI"/>
              </a:defRPr>
            </a:pPr>
            <a:r>
              <a:t>BƯỚC 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01000" y="5166360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Khảo sát bảng KPI &amp; 3 Biểu đồ Chart.js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40880" y="5458968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t>Đối sánh trực quan số ô duyệt, độ dài đường và tốc độ ms. Bấm 'Giải tức thì' để đo thời gian thực thi siêu tốc.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0" y="731520"/>
            <a:ext cx="8899855" cy="43891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ctr">
              <a:defRPr sz="1000" b="1">
                <a:solidFill>
                  <a:srgbClr val="E2E8F0"/>
                </a:solidFill>
                <a:latin typeface="Segoe UI"/>
              </a:defRPr>
            </a:pPr>
            <a:r>
              <a:t>TRƯỜNG ĐẠI HỌC CÔNG NGHỆ ĐÔNG Á  •  KHOA CÔNG NGHỆ THÔNG TIN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45920" y="1325880"/>
            <a:ext cx="8899855" cy="4800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1645920"/>
            <a:ext cx="816833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2300" b="1">
                <a:solidFill>
                  <a:srgbClr val="0F172A"/>
                </a:solidFill>
                <a:latin typeface="Segoe UI"/>
              </a:defRPr>
            </a:pPr>
            <a:r>
              <a:t>XIN TRÂN TRỌNG CẢM ƠN THẦY CÔ VÀ HỘI ĐỒNG!</a:t>
            </a:r>
          </a:p>
          <a:p>
            <a:pPr algn="ctr">
              <a:spcAft>
                <a:spcPts val="2000"/>
              </a:spcAft>
              <a:defRPr sz="1200">
                <a:solidFill>
                  <a:srgbClr val="475569"/>
                </a:solidFill>
                <a:latin typeface="Segoe UI"/>
              </a:defRPr>
            </a:pPr>
            <a:r>
              <a:t>Nhóm 10 đã hoàn thành phần trình bày lý thuyết, mô hình hóa và kết quả thực nghiệm học phần Trí Tuệ Nhân Tạo.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2971800"/>
            <a:ext cx="2377440" cy="384048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🎯 100% MỤC TIÊU BTL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2971800"/>
            <a:ext cx="2377440" cy="384048"/>
          </a:xfrm>
          <a:prstGeom prst="roundRect">
            <a:avLst>
              <a:gd name="adj" fmla="val 8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🔬 ĐỐI SÁNH ĐỊNH LƯỢNG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2971800"/>
            <a:ext cx="2377440" cy="384048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💻 MÔ PHỎNG SONG SONG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03120" y="3703320"/>
            <a:ext cx="7985455" cy="196596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0" y="3886200"/>
            <a:ext cx="7619695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1300" b="1">
                <a:solidFill>
                  <a:srgbClr val="2563EB"/>
                </a:solidFill>
                <a:latin typeface="Segoe UI"/>
              </a:defRPr>
            </a:pPr>
            <a:r>
              <a:t>KÍNH MỜI THẦY CÔ VÀ CÁC BẠN THEO DÕI PHẦN DEMO TRỰC TIẾP TRÊN PHẦN MỀM</a:t>
            </a:r>
            <a:br/>
            <a:r>
              <a:t>VÀ ĐẶT CÂU HỎI ĐÓNG GÓP Ý KIẾN (Q&amp;A)</a:t>
            </a:r>
          </a:p>
          <a:p>
            <a:pPr algn="ctr">
              <a:defRPr sz="1100">
                <a:solidFill>
                  <a:srgbClr val="475569"/>
                </a:solidFill>
                <a:latin typeface="Segoe UI"/>
              </a:defRPr>
            </a:pPr>
            <a:r>
              <a:t>Giảng viên hướng dẫn: ThS. Trần Xuân Thanh</a:t>
            </a:r>
            <a:br/>
            <a:r>
              <a:t>Sinh viên thực hiện: Nguyễn Thanh Hùng (Mã SV: 20232139 • Lớp: DCCNTT.14.6 • Nhóm 10)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